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Fraunces Medium"/>
      <p:regular r:id="rId17"/>
    </p:embeddedFont>
    <p:embeddedFont>
      <p:font typeface="Fraunces Medium"/>
      <p:regular r:id="rId18"/>
    </p:embeddedFont>
    <p:embeddedFont>
      <p:font typeface="Fraunces Medium"/>
      <p:regular r:id="rId19"/>
    </p:embeddedFont>
    <p:embeddedFont>
      <p:font typeface="Fraunces Medium"/>
      <p:regular r:id="rId20"/>
    </p:embeddedFont>
    <p:embeddedFont>
      <p:font typeface="Epilogue"/>
      <p:regular r:id="rId21"/>
    </p:embeddedFont>
    <p:embeddedFont>
      <p:font typeface="Epilogue"/>
      <p:regular r:id="rId22"/>
    </p:embeddedFont>
    <p:embeddedFont>
      <p:font typeface="Epilogue"/>
      <p:regular r:id="rId23"/>
    </p:embeddedFont>
    <p:embeddedFont>
      <p:font typeface="Epilogue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slideLayout" Target="../slideLayouts/slideLayout6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slideLayout" Target="../slideLayouts/slideLayout9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slideLayout" Target="../slideLayouts/slideLayout11.xml"/><Relationship Id="rId10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376124"/>
            <a:ext cx="7556421" cy="2764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50"/>
              </a:lnSpc>
              <a:buNone/>
            </a:pPr>
            <a:r>
              <a:rPr lang="en-US" sz="87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Loan Default Risk Analysis</a:t>
            </a:r>
            <a:endParaRPr lang="en-US" sz="8700" dirty="0"/>
          </a:p>
        </p:txBody>
      </p:sp>
      <p:sp>
        <p:nvSpPr>
          <p:cNvPr id="4" name="Text 1"/>
          <p:cNvSpPr/>
          <p:nvPr/>
        </p:nvSpPr>
        <p:spPr>
          <a:xfrm>
            <a:off x="793790" y="4283988"/>
            <a:ext cx="5059442" cy="368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Data Driven Credit Risk Assessment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793790" y="4796314"/>
            <a:ext cx="7556421" cy="243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Banking &amp; Financial Services – Retail Lending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793790" y="5147310"/>
            <a:ext cx="7556421" cy="389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793790" y="5680115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Team Details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93790" y="6054209"/>
            <a:ext cx="7556421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Section:</a:t>
            </a:r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B | </a:t>
            </a:r>
            <a:pPr algn="l"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Team ID:</a:t>
            </a:r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G-6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93790" y="6356509"/>
            <a:ext cx="7556421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Team Members:</a:t>
            </a:r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[Name 1], [Name 2], [Name 3], [Name 4]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93790" y="6658808"/>
            <a:ext cx="7556421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Faculty Mentor:</a:t>
            </a:r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Satyaki Das Sir, Archit Raj Sir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07601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008080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Business Context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793790" y="1283851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SECTOR CONTEXT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793790" y="1677114"/>
            <a:ext cx="6986707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Retail banks face rising credit risk due to: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93790" y="2030016"/>
            <a:ext cx="6986707" cy="1086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High borrower leverage</a:t>
            </a:r>
            <a:endParaRPr lang="en-US" sz="1300" dirty="0"/>
          </a:p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Long loan tenures</a:t>
            </a:r>
            <a:endParaRPr lang="en-US" sz="1300" dirty="0"/>
          </a:p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Increasing LTV ratios</a:t>
            </a:r>
            <a:endParaRPr lang="en-US" sz="1300" dirty="0"/>
          </a:p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Portfolio default rate of 24.88%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93790" y="3243977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008080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Problem Statement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793790" y="3720227"/>
            <a:ext cx="3123248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CORE PROBLEM STATEMENT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793790" y="4113490"/>
            <a:ext cx="6986707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Which borrower characteristics and loan attributes are most strongly associated with loan defaults, and how can these insights enhance credit risk assessment?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93790" y="4717256"/>
            <a:ext cx="2286953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DECISION QUESTION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793790" y="5110520"/>
            <a:ext cx="6986707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Which customer segments and loan profiles should be classified as high-risk, and how should lending policies be adjusted to minimize defaults while maintaining profitability?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3790" y="5952411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008080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Objective</a:t>
            </a:r>
            <a:endParaRPr lang="en-US" sz="2650" dirty="0"/>
          </a:p>
        </p:txBody>
      </p:sp>
      <p:sp>
        <p:nvSpPr>
          <p:cNvPr id="12" name="Text 10"/>
          <p:cNvSpPr/>
          <p:nvPr/>
        </p:nvSpPr>
        <p:spPr>
          <a:xfrm>
            <a:off x="793790" y="6428661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MAIN OBJECTIVE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793790" y="6821924"/>
            <a:ext cx="6986707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Develop a data-driven dashboard that identifies high risk segments and supports proactive credit decision-making.</a:t>
            </a:r>
            <a:endParaRPr lang="en-US" sz="13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03168" y="823555"/>
            <a:ext cx="425291" cy="425291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8203168" y="1408271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Rising Credit Risk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8203168" y="1801535"/>
            <a:ext cx="5640943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Retail banks face escalating risk from high leverage, long tenures, and a 24.88% portfolio default rate.</a:t>
            </a:r>
            <a:endParaRPr lang="en-US" sz="13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03168" y="2532936"/>
            <a:ext cx="425291" cy="425291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8203168" y="3117652"/>
            <a:ext cx="2414468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Identify Default Drivers</a:t>
            </a:r>
            <a:endParaRPr lang="en-US" sz="1650" dirty="0"/>
          </a:p>
        </p:txBody>
      </p:sp>
      <p:sp>
        <p:nvSpPr>
          <p:cNvPr id="19" name="Text 15"/>
          <p:cNvSpPr/>
          <p:nvPr/>
        </p:nvSpPr>
        <p:spPr>
          <a:xfrm>
            <a:off x="8203168" y="3510915"/>
            <a:ext cx="5640943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Determine key borrower and loan characteristics that strongly correlate with default incidents.</a:t>
            </a:r>
            <a:endParaRPr lang="en-US" sz="13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03168" y="4242316"/>
            <a:ext cx="425291" cy="425291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203168" y="4827032"/>
            <a:ext cx="2636401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Optimize Lending Policies</a:t>
            </a:r>
            <a:endParaRPr lang="en-US" sz="1650" dirty="0"/>
          </a:p>
        </p:txBody>
      </p:sp>
      <p:sp>
        <p:nvSpPr>
          <p:cNvPr id="22" name="Text 17"/>
          <p:cNvSpPr/>
          <p:nvPr/>
        </p:nvSpPr>
        <p:spPr>
          <a:xfrm>
            <a:off x="8203168" y="5220295"/>
            <a:ext cx="5640943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Classify high-risk segments and adjust lending strategies to balance default minimization and profitability.</a:t>
            </a:r>
            <a:endParaRPr lang="en-US" sz="130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203168" y="5951696"/>
            <a:ext cx="425291" cy="425291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203168" y="6536412"/>
            <a:ext cx="2163723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Data-Driven Solution</a:t>
            </a:r>
            <a:endParaRPr lang="en-US" sz="1650" dirty="0"/>
          </a:p>
        </p:txBody>
      </p:sp>
      <p:sp>
        <p:nvSpPr>
          <p:cNvPr id="25" name="Text 19"/>
          <p:cNvSpPr/>
          <p:nvPr/>
        </p:nvSpPr>
        <p:spPr>
          <a:xfrm>
            <a:off x="8203168" y="6929676"/>
            <a:ext cx="5640943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Build a dashboard for proactive credit decisions and identification of at-risk customer segments.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45012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Data Engineering – From Raw Data to Analytical Dataset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790" y="2831068"/>
            <a:ext cx="226814" cy="22681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93790" y="3157776"/>
            <a:ext cx="4196358" cy="30480"/>
          </a:xfrm>
          <a:prstGeom prst="rect">
            <a:avLst/>
          </a:prstGeom>
          <a:solidFill>
            <a:srgbClr val="8C98CA"/>
          </a:solidFill>
          <a:ln/>
        </p:spPr>
      </p:sp>
      <p:sp>
        <p:nvSpPr>
          <p:cNvPr id="5" name="Text 2"/>
          <p:cNvSpPr/>
          <p:nvPr/>
        </p:nvSpPr>
        <p:spPr>
          <a:xfrm>
            <a:off x="793790" y="333208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SOURCE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3822502"/>
            <a:ext cx="4196358" cy="1610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10,000 loan records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Multiple borrower &amp; loan attributes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Target variable: is_loan_default</a:t>
            </a:r>
            <a:endParaRPr lang="en-US" sz="17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16962" y="2831068"/>
            <a:ext cx="226814" cy="22681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216962" y="3157776"/>
            <a:ext cx="4196358" cy="30480"/>
          </a:xfrm>
          <a:prstGeom prst="rect">
            <a:avLst/>
          </a:prstGeom>
          <a:solidFill>
            <a:srgbClr val="8C98CA"/>
          </a:solidFill>
          <a:ln/>
        </p:spPr>
      </p:sp>
      <p:sp>
        <p:nvSpPr>
          <p:cNvPr id="9" name="Text 5"/>
          <p:cNvSpPr/>
          <p:nvPr/>
        </p:nvSpPr>
        <p:spPr>
          <a:xfrm>
            <a:off x="5216962" y="333208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DATA CLEANING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216962" y="3822502"/>
            <a:ext cx="4196358" cy="2415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Median imputation (income, property value)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Grouped median (interest rate by loan type)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Mode (loan term)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Standardized categorical values</a:t>
            </a:r>
            <a:endParaRPr lang="en-US" sz="17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40133" y="2831068"/>
            <a:ext cx="226814" cy="226814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9640133" y="3157776"/>
            <a:ext cx="4196358" cy="30480"/>
          </a:xfrm>
          <a:prstGeom prst="rect">
            <a:avLst/>
          </a:prstGeom>
          <a:solidFill>
            <a:srgbClr val="8C98CA"/>
          </a:solidFill>
          <a:ln/>
        </p:spPr>
      </p:sp>
      <p:sp>
        <p:nvSpPr>
          <p:cNvPr id="13" name="Text 8"/>
          <p:cNvSpPr/>
          <p:nvPr/>
        </p:nvSpPr>
        <p:spPr>
          <a:xfrm>
            <a:off x="9640133" y="3332083"/>
            <a:ext cx="348746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FEATURE ENGINEERING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9640133" y="3822502"/>
            <a:ext cx="4196358" cy="2573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Loan-to-Value (LTV)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Debt-to-Income (DTI)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Income Bands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Credit Score Bands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Interest Rate Bands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Loan Amount Bands</a:t>
            </a:r>
            <a:endParaRPr lang="en-US" sz="1750" dirty="0"/>
          </a:p>
        </p:txBody>
      </p:sp>
      <p:sp>
        <p:nvSpPr>
          <p:cNvPr id="15" name="Text 10"/>
          <p:cNvSpPr/>
          <p:nvPr/>
        </p:nvSpPr>
        <p:spPr>
          <a:xfrm>
            <a:off x="793790" y="682156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Focus on transformation from raw data to decision-ready dataset. Professional, structured presentation.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2361" y="626031"/>
            <a:ext cx="9321879" cy="6013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37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Key Insights – Exploratory Data Analysis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792361" y="1472327"/>
            <a:ext cx="13045678" cy="355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8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Present insights in business language, not statistics.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792361" y="2072878"/>
            <a:ext cx="3951327" cy="4811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CRITICAL FINDINGS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92361" y="2798921"/>
            <a:ext cx="6441162" cy="1397913"/>
          </a:xfrm>
          <a:prstGeom prst="roundRect">
            <a:avLst>
              <a:gd name="adj" fmla="val 7849"/>
            </a:avLst>
          </a:prstGeom>
          <a:solidFill>
            <a:srgbClr val="080E26"/>
          </a:solidFill>
          <a:ln w="22860">
            <a:solidFill>
              <a:srgbClr val="414A7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9501" y="2798921"/>
            <a:ext cx="91440" cy="1397913"/>
          </a:xfrm>
          <a:prstGeom prst="roundRect">
            <a:avLst>
              <a:gd name="adj" fmla="val 88394"/>
            </a:avLst>
          </a:prstGeom>
          <a:solidFill>
            <a:srgbClr val="8C98CA"/>
          </a:solidFill>
          <a:ln/>
        </p:spPr>
      </p:sp>
      <p:sp>
        <p:nvSpPr>
          <p:cNvPr id="7" name="Text 5"/>
          <p:cNvSpPr/>
          <p:nvPr/>
        </p:nvSpPr>
        <p:spPr>
          <a:xfrm>
            <a:off x="1076206" y="3014186"/>
            <a:ext cx="3529608" cy="300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Credit Score Insufficient Alone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1076206" y="3412688"/>
            <a:ext cx="5942052" cy="568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Default rate stable across credit score bands (24–26%) → Credit score alone is insufficient for risk assessment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96758" y="2798921"/>
            <a:ext cx="6441281" cy="1397913"/>
          </a:xfrm>
          <a:prstGeom prst="roundRect">
            <a:avLst>
              <a:gd name="adj" fmla="val 7849"/>
            </a:avLst>
          </a:prstGeom>
          <a:solidFill>
            <a:srgbClr val="080E26"/>
          </a:solidFill>
          <a:ln w="22860">
            <a:solidFill>
              <a:srgbClr val="414A7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73898" y="2798921"/>
            <a:ext cx="91440" cy="1397913"/>
          </a:xfrm>
          <a:prstGeom prst="roundRect">
            <a:avLst>
              <a:gd name="adj" fmla="val 88394"/>
            </a:avLst>
          </a:prstGeom>
          <a:solidFill>
            <a:srgbClr val="8C98CA"/>
          </a:solidFill>
          <a:ln/>
        </p:spPr>
      </p:sp>
      <p:sp>
        <p:nvSpPr>
          <p:cNvPr id="11" name="Text 9"/>
          <p:cNvSpPr/>
          <p:nvPr/>
        </p:nvSpPr>
        <p:spPr>
          <a:xfrm>
            <a:off x="7680603" y="3014186"/>
            <a:ext cx="4436626" cy="300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Debt-to-Income is a Strong Risk Signal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7680603" y="3412688"/>
            <a:ext cx="5942171" cy="568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High DTI (50–70%) shows &gt;40% default rate → Borrower stress indicator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92361" y="4360069"/>
            <a:ext cx="6441162" cy="1397913"/>
          </a:xfrm>
          <a:prstGeom prst="roundRect">
            <a:avLst>
              <a:gd name="adj" fmla="val 7849"/>
            </a:avLst>
          </a:prstGeom>
          <a:solidFill>
            <a:srgbClr val="080E26"/>
          </a:solidFill>
          <a:ln w="22860">
            <a:solidFill>
              <a:srgbClr val="414A7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9501" y="4360069"/>
            <a:ext cx="91440" cy="1397913"/>
          </a:xfrm>
          <a:prstGeom prst="roundRect">
            <a:avLst>
              <a:gd name="adj" fmla="val 88394"/>
            </a:avLst>
          </a:prstGeom>
          <a:solidFill>
            <a:srgbClr val="8C98CA"/>
          </a:solidFill>
          <a:ln/>
        </p:spPr>
      </p:sp>
      <p:sp>
        <p:nvSpPr>
          <p:cNvPr id="15" name="Text 13"/>
          <p:cNvSpPr/>
          <p:nvPr/>
        </p:nvSpPr>
        <p:spPr>
          <a:xfrm>
            <a:off x="1076206" y="4575334"/>
            <a:ext cx="4167902" cy="300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Loan-to-Value Reveals Extreme Risk</a:t>
            </a:r>
            <a:endParaRPr lang="en-US" sz="1850" dirty="0"/>
          </a:p>
        </p:txBody>
      </p:sp>
      <p:sp>
        <p:nvSpPr>
          <p:cNvPr id="16" name="Text 14"/>
          <p:cNvSpPr/>
          <p:nvPr/>
        </p:nvSpPr>
        <p:spPr>
          <a:xfrm>
            <a:off x="1076206" y="4973836"/>
            <a:ext cx="5942052" cy="568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LTV &gt; 100% shows ~89% default rate → Underwater loans present critical risk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396758" y="4360069"/>
            <a:ext cx="6441281" cy="1397913"/>
          </a:xfrm>
          <a:prstGeom prst="roundRect">
            <a:avLst>
              <a:gd name="adj" fmla="val 7849"/>
            </a:avLst>
          </a:prstGeom>
          <a:solidFill>
            <a:srgbClr val="080E26"/>
          </a:solidFill>
          <a:ln w="22860">
            <a:solidFill>
              <a:srgbClr val="414A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73898" y="4360069"/>
            <a:ext cx="91440" cy="1397913"/>
          </a:xfrm>
          <a:prstGeom prst="roundRect">
            <a:avLst>
              <a:gd name="adj" fmla="val 88394"/>
            </a:avLst>
          </a:prstGeom>
          <a:solidFill>
            <a:srgbClr val="8C98CA"/>
          </a:solidFill>
          <a:ln/>
        </p:spPr>
      </p:sp>
      <p:sp>
        <p:nvSpPr>
          <p:cNvPr id="19" name="Text 17"/>
          <p:cNvSpPr/>
          <p:nvPr/>
        </p:nvSpPr>
        <p:spPr>
          <a:xfrm>
            <a:off x="7680603" y="4575334"/>
            <a:ext cx="3196114" cy="300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Interest Rate Concentration</a:t>
            </a:r>
            <a:endParaRPr lang="en-US" sz="1850" dirty="0"/>
          </a:p>
        </p:txBody>
      </p:sp>
      <p:sp>
        <p:nvSpPr>
          <p:cNvPr id="20" name="Text 18"/>
          <p:cNvSpPr/>
          <p:nvPr/>
        </p:nvSpPr>
        <p:spPr>
          <a:xfrm>
            <a:off x="7680603" y="4973836"/>
            <a:ext cx="5942171" cy="568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Interest rate band 3.5–4% contains majority of defaults → Potential underpricing of risk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92361" y="5921216"/>
            <a:ext cx="6441162" cy="1682353"/>
          </a:xfrm>
          <a:prstGeom prst="roundRect">
            <a:avLst>
              <a:gd name="adj" fmla="val 6522"/>
            </a:avLst>
          </a:prstGeom>
          <a:solidFill>
            <a:srgbClr val="080E26"/>
          </a:solidFill>
          <a:ln w="22860">
            <a:solidFill>
              <a:srgbClr val="414A7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9501" y="5921216"/>
            <a:ext cx="91440" cy="1682353"/>
          </a:xfrm>
          <a:prstGeom prst="roundRect">
            <a:avLst>
              <a:gd name="adj" fmla="val 88394"/>
            </a:avLst>
          </a:prstGeom>
          <a:solidFill>
            <a:srgbClr val="8C98CA"/>
          </a:solidFill>
          <a:ln/>
        </p:spPr>
      </p:sp>
      <p:sp>
        <p:nvSpPr>
          <p:cNvPr id="23" name="Text 21"/>
          <p:cNvSpPr/>
          <p:nvPr/>
        </p:nvSpPr>
        <p:spPr>
          <a:xfrm>
            <a:off x="1076206" y="6136481"/>
            <a:ext cx="2502218" cy="300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Loan Amount Matters</a:t>
            </a:r>
            <a:endParaRPr lang="en-US" sz="1850" dirty="0"/>
          </a:p>
        </p:txBody>
      </p:sp>
      <p:sp>
        <p:nvSpPr>
          <p:cNvPr id="24" name="Text 22"/>
          <p:cNvSpPr/>
          <p:nvPr/>
        </p:nvSpPr>
        <p:spPr>
          <a:xfrm>
            <a:off x="1076206" y="6534983"/>
            <a:ext cx="5942052" cy="853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Loan amount shows moderate variation in default risk, with both very small and very large exposures displaying elevated risk.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7396758" y="5921216"/>
            <a:ext cx="6441281" cy="1682353"/>
          </a:xfrm>
          <a:prstGeom prst="roundRect">
            <a:avLst>
              <a:gd name="adj" fmla="val 6522"/>
            </a:avLst>
          </a:prstGeom>
          <a:solidFill>
            <a:srgbClr val="080E26"/>
          </a:solidFill>
          <a:ln w="22860">
            <a:solidFill>
              <a:srgbClr val="414A7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73898" y="5921216"/>
            <a:ext cx="91440" cy="1682353"/>
          </a:xfrm>
          <a:prstGeom prst="roundRect">
            <a:avLst>
              <a:gd name="adj" fmla="val 88394"/>
            </a:avLst>
          </a:prstGeom>
          <a:solidFill>
            <a:srgbClr val="8C98CA"/>
          </a:solidFill>
          <a:ln/>
        </p:spPr>
      </p:sp>
      <p:sp>
        <p:nvSpPr>
          <p:cNvPr id="27" name="Text 25"/>
          <p:cNvSpPr/>
          <p:nvPr/>
        </p:nvSpPr>
        <p:spPr>
          <a:xfrm>
            <a:off x="7680603" y="6136481"/>
            <a:ext cx="2597348" cy="300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Demographic Patterns</a:t>
            </a:r>
            <a:endParaRPr lang="en-US" sz="1850" dirty="0"/>
          </a:p>
        </p:txBody>
      </p:sp>
      <p:sp>
        <p:nvSpPr>
          <p:cNvPr id="28" name="Text 26"/>
          <p:cNvSpPr/>
          <p:nvPr/>
        </p:nvSpPr>
        <p:spPr>
          <a:xfrm>
            <a:off x="7680603" y="6534983"/>
            <a:ext cx="5942171" cy="853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Mid-age borrowers account for the largest share of default volume, though this may reflect portfolio concentration rather than higher individual risk.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56799"/>
            <a:ext cx="13042821" cy="1204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37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Advanced Analysis – Risk Segmentation &amp; Interaction Effects</a:t>
            </a:r>
            <a:endParaRPr lang="en-US" sz="3750" dirty="0"/>
          </a:p>
        </p:txBody>
      </p:sp>
      <p:sp>
        <p:nvSpPr>
          <p:cNvPr id="3" name="Shape 1"/>
          <p:cNvSpPr/>
          <p:nvPr/>
        </p:nvSpPr>
        <p:spPr>
          <a:xfrm>
            <a:off x="793790" y="2507456"/>
            <a:ext cx="4238387" cy="4665226"/>
          </a:xfrm>
          <a:prstGeom prst="roundRect">
            <a:avLst>
              <a:gd name="adj" fmla="val 1911"/>
            </a:avLst>
          </a:prstGeom>
          <a:solidFill>
            <a:srgbClr val="283157"/>
          </a:solidFill>
          <a:ln w="7620">
            <a:solidFill>
              <a:srgbClr val="00808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4172" y="2707838"/>
            <a:ext cx="578406" cy="578406"/>
          </a:xfrm>
          <a:prstGeom prst="roundRect">
            <a:avLst>
              <a:gd name="adj" fmla="val 15807384"/>
            </a:avLst>
          </a:prstGeom>
          <a:solidFill>
            <a:srgbClr val="00808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53239" y="2866906"/>
            <a:ext cx="260271" cy="26027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94172" y="3450074"/>
            <a:ext cx="3335179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RISK MULTIPLIER EFFECTS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994172" y="3849529"/>
            <a:ext cx="3837623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Compounding Risk Factors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94172" y="4233029"/>
            <a:ext cx="3837623" cy="1826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High DTI + Specific Interest Band → Risk multiplies</a:t>
            </a:r>
            <a:endParaRPr lang="en-US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High LTV → Increases risk within 3.5-4% interest segment</a:t>
            </a:r>
            <a:endParaRPr lang="en-US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Certain income bands → Concentrated default clusters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196007" y="2507456"/>
            <a:ext cx="4238387" cy="4665226"/>
          </a:xfrm>
          <a:prstGeom prst="roundRect">
            <a:avLst>
              <a:gd name="adj" fmla="val 1911"/>
            </a:avLst>
          </a:prstGeom>
          <a:solidFill>
            <a:srgbClr val="283157"/>
          </a:solidFill>
          <a:ln w="7620">
            <a:solidFill>
              <a:srgbClr val="00404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396389" y="2707838"/>
            <a:ext cx="578406" cy="578406"/>
          </a:xfrm>
          <a:prstGeom prst="roundRect">
            <a:avLst>
              <a:gd name="adj" fmla="val 15807384"/>
            </a:avLst>
          </a:prstGeom>
          <a:solidFill>
            <a:srgbClr val="00404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55456" y="2866906"/>
            <a:ext cx="260271" cy="26027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96389" y="3450074"/>
            <a:ext cx="3837623" cy="60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PORTFOLIO STRUCTURE INSIGHTS</a:t>
            </a:r>
            <a:endParaRPr lang="en-US" sz="1850" dirty="0"/>
          </a:p>
        </p:txBody>
      </p:sp>
      <p:sp>
        <p:nvSpPr>
          <p:cNvPr id="13" name="Text 9"/>
          <p:cNvSpPr/>
          <p:nvPr/>
        </p:nvSpPr>
        <p:spPr>
          <a:xfrm>
            <a:off x="5396389" y="4150757"/>
            <a:ext cx="3837623" cy="1826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Portfolio contains structurally risky borrower segments</a:t>
            </a:r>
            <a:endParaRPr lang="en-US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Single-factor analysis misses critical risk combinations</a:t>
            </a:r>
            <a:endParaRPr lang="en-US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Interaction effects reveal hidden vulnerability patterns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9598223" y="2507456"/>
            <a:ext cx="4238387" cy="4665226"/>
          </a:xfrm>
          <a:prstGeom prst="roundRect">
            <a:avLst>
              <a:gd name="adj" fmla="val 1911"/>
            </a:avLst>
          </a:prstGeom>
          <a:solidFill>
            <a:srgbClr val="283157"/>
          </a:solidFill>
          <a:ln w="7620">
            <a:solidFill>
              <a:srgbClr val="00202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798606" y="2707838"/>
            <a:ext cx="578406" cy="578406"/>
          </a:xfrm>
          <a:prstGeom prst="roundRect">
            <a:avLst>
              <a:gd name="adj" fmla="val 15807384"/>
            </a:avLst>
          </a:prstGeom>
          <a:solidFill>
            <a:srgbClr val="00202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957673" y="2866906"/>
            <a:ext cx="260271" cy="26027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798606" y="3450074"/>
            <a:ext cx="3614023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SEGMENTATION ADVANTAGE</a:t>
            </a:r>
            <a:endParaRPr lang="en-US" sz="1850" dirty="0"/>
          </a:p>
        </p:txBody>
      </p:sp>
      <p:sp>
        <p:nvSpPr>
          <p:cNvPr id="18" name="Text 13"/>
          <p:cNvSpPr/>
          <p:nvPr/>
        </p:nvSpPr>
        <p:spPr>
          <a:xfrm>
            <a:off x="9798606" y="3849529"/>
            <a:ext cx="3837623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Segmentation improves decision intelligence by: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9798606" y="4518303"/>
            <a:ext cx="3837623" cy="2453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Identifying borrower combinations with disproportionate risk</a:t>
            </a:r>
            <a:endParaRPr lang="en-US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Moving beyond univariate risk assessment</a:t>
            </a:r>
            <a:endParaRPr lang="en-US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Enabling targeted policy interventions</a:t>
            </a:r>
            <a:endParaRPr lang="en-US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Supporting risk-tiered approval strategies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8670" y="746998"/>
            <a:ext cx="11351895" cy="52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50"/>
              </a:lnSpc>
              <a:buNone/>
            </a:pPr>
            <a:r>
              <a:rPr lang="en-US" sz="33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Dashboard Walkthrough – Executive &amp; Operational View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788670" y="1589842"/>
            <a:ext cx="3380423" cy="422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EXECUTIVE VIEW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88670" y="2138124"/>
            <a:ext cx="6320433" cy="235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Enables quick risk health assessment: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88670" y="2487454"/>
            <a:ext cx="6320433" cy="1356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Overall Default Rate</a:t>
            </a:r>
            <a:endParaRPr lang="en-US" sz="1300" dirty="0"/>
          </a:p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Total Exposure</a:t>
            </a:r>
            <a:endParaRPr lang="en-US" sz="1300" dirty="0"/>
          </a:p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Credit Score Comparison (Default vs Non-Default)</a:t>
            </a:r>
            <a:endParaRPr lang="en-US" sz="1300" dirty="0"/>
          </a:p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Money Lost in Default</a:t>
            </a:r>
            <a:endParaRPr lang="en-US" sz="1300" dirty="0"/>
          </a:p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Portfolio risk snapshot at a glance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88670" y="3969425"/>
            <a:ext cx="3569970" cy="422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OPERATIONAL VIEW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788670" y="4517708"/>
            <a:ext cx="6320433" cy="235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Supports faster, data-driven decisions: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88670" y="4867037"/>
            <a:ext cx="6320433" cy="1356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Filters by LTV, DTI, Income, Age</a:t>
            </a:r>
            <a:endParaRPr lang="en-US" sz="1300" dirty="0"/>
          </a:p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Drill-down by segment</a:t>
            </a:r>
            <a:endParaRPr lang="en-US" sz="1300" dirty="0"/>
          </a:p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Identify high-risk borrower combinations</a:t>
            </a:r>
            <a:endParaRPr lang="en-US" sz="1300" dirty="0"/>
          </a:p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Real-time risk profiling</a:t>
            </a:r>
            <a:endParaRPr lang="en-US" sz="1300" dirty="0"/>
          </a:p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Segment-level decision support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88670" y="6349008"/>
            <a:ext cx="3695462" cy="422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DASHBOARD IMPACT</a:t>
            </a:r>
            <a:endParaRPr lang="en-US" sz="2650" dirty="0"/>
          </a:p>
        </p:txBody>
      </p:sp>
      <p:sp>
        <p:nvSpPr>
          <p:cNvPr id="10" name="Text 8"/>
          <p:cNvSpPr/>
          <p:nvPr/>
        </p:nvSpPr>
        <p:spPr>
          <a:xfrm>
            <a:off x="788670" y="6897291"/>
            <a:ext cx="6320433" cy="471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Transforms credit decision-making from manual review to data-driven segmentation, reducing approval cycle time and improving risk consistency.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528917" y="1577340"/>
            <a:ext cx="6320433" cy="235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3651" y="753428"/>
            <a:ext cx="3963591" cy="367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Strategic Recommendations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633651" y="1212652"/>
            <a:ext cx="1336309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Use clean consulting layout. Present 5 strong business actions directly linked to insights.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33651" y="1424107"/>
            <a:ext cx="13363099" cy="1152168"/>
          </a:xfrm>
          <a:prstGeom prst="roundRect">
            <a:avLst>
              <a:gd name="adj" fmla="val 4290"/>
            </a:avLst>
          </a:prstGeom>
          <a:solidFill>
            <a:srgbClr val="080E26"/>
          </a:solidFill>
          <a:ln w="15240">
            <a:solidFill>
              <a:srgbClr val="414A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8891" y="1439347"/>
            <a:ext cx="470654" cy="1121688"/>
          </a:xfrm>
          <a:prstGeom prst="roundRect">
            <a:avLst>
              <a:gd name="adj" fmla="val 6617"/>
            </a:avLst>
          </a:prstGeom>
          <a:solidFill>
            <a:srgbClr val="283157"/>
          </a:solidFill>
          <a:ln/>
        </p:spPr>
      </p:sp>
      <p:sp>
        <p:nvSpPr>
          <p:cNvPr id="6" name="Text 4"/>
          <p:cNvSpPr/>
          <p:nvPr/>
        </p:nvSpPr>
        <p:spPr>
          <a:xfrm>
            <a:off x="792123" y="1889879"/>
            <a:ext cx="176451" cy="220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1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180505" y="1556980"/>
            <a:ext cx="2235518" cy="183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LTV APPROVAL THRESHOLDS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180505" y="1777484"/>
            <a:ext cx="1268337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Tighten LTV approval criteria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80505" y="1956911"/>
            <a:ext cx="12683371" cy="307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100"/>
              </a:lnSpc>
              <a:buSzPct val="100000"/>
              <a:buChar char="•"/>
            </a:pPr>
            <a:r>
              <a:rPr lang="en-US" sz="9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LTV &gt; 90% requires enhanced scrutiny</a:t>
            </a:r>
            <a:endParaRPr lang="en-US" sz="900" dirty="0"/>
          </a:p>
          <a:p>
            <a:pPr algn="l" marL="342900" indent="-342900">
              <a:lnSpc>
                <a:spcPts val="1100"/>
              </a:lnSpc>
              <a:buSzPct val="100000"/>
              <a:buChar char="•"/>
            </a:pPr>
            <a:r>
              <a:rPr lang="en-US" sz="9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LTV &gt; 100% automatic decline or risk premium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80505" y="2300526"/>
            <a:ext cx="1268337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00A0A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Linked to insight: LTV &gt; 100% shows ~89% default rate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33651" y="2637234"/>
            <a:ext cx="13363099" cy="1152168"/>
          </a:xfrm>
          <a:prstGeom prst="roundRect">
            <a:avLst>
              <a:gd name="adj" fmla="val 4290"/>
            </a:avLst>
          </a:prstGeom>
          <a:solidFill>
            <a:srgbClr val="080E26"/>
          </a:solidFill>
          <a:ln w="15240">
            <a:solidFill>
              <a:srgbClr val="414A7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8891" y="2652474"/>
            <a:ext cx="470654" cy="1121688"/>
          </a:xfrm>
          <a:prstGeom prst="roundRect">
            <a:avLst>
              <a:gd name="adj" fmla="val 6617"/>
            </a:avLst>
          </a:prstGeom>
          <a:solidFill>
            <a:srgbClr val="283157"/>
          </a:solidFill>
          <a:ln/>
        </p:spPr>
      </p:sp>
      <p:sp>
        <p:nvSpPr>
          <p:cNvPr id="13" name="Text 11"/>
          <p:cNvSpPr/>
          <p:nvPr/>
        </p:nvSpPr>
        <p:spPr>
          <a:xfrm>
            <a:off x="792123" y="3103007"/>
            <a:ext cx="176451" cy="220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2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180505" y="2770108"/>
            <a:ext cx="1806416" cy="183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DEBT-TO-INCOME CAPS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180505" y="2990612"/>
            <a:ext cx="1268337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Introduce stricter DTI limits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80505" y="3170039"/>
            <a:ext cx="12683371" cy="307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100"/>
              </a:lnSpc>
              <a:buSzPct val="100000"/>
              <a:buChar char="•"/>
            </a:pPr>
            <a:r>
              <a:rPr lang="en-US" sz="9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Flag borrowers with DTI &gt; 50%</a:t>
            </a:r>
            <a:endParaRPr lang="en-US" sz="900" dirty="0"/>
          </a:p>
          <a:p>
            <a:pPr algn="l" marL="342900" indent="-342900">
              <a:lnSpc>
                <a:spcPts val="1100"/>
              </a:lnSpc>
              <a:buSzPct val="100000"/>
              <a:buChar char="•"/>
            </a:pPr>
            <a:r>
              <a:rPr lang="en-US" sz="9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Enhanced income verification required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80505" y="3513653"/>
            <a:ext cx="1268337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00A0A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Linked to insight: DTI 50–70% shows &gt;40% default rate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33651" y="3850362"/>
            <a:ext cx="13363099" cy="1152168"/>
          </a:xfrm>
          <a:prstGeom prst="roundRect">
            <a:avLst>
              <a:gd name="adj" fmla="val 4290"/>
            </a:avLst>
          </a:prstGeom>
          <a:solidFill>
            <a:srgbClr val="080E26"/>
          </a:solidFill>
          <a:ln w="15240">
            <a:solidFill>
              <a:srgbClr val="414A7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8891" y="3865602"/>
            <a:ext cx="470654" cy="1121688"/>
          </a:xfrm>
          <a:prstGeom prst="roundRect">
            <a:avLst>
              <a:gd name="adj" fmla="val 6617"/>
            </a:avLst>
          </a:prstGeom>
          <a:solidFill>
            <a:srgbClr val="283157"/>
          </a:solidFill>
          <a:ln/>
        </p:spPr>
      </p:sp>
      <p:sp>
        <p:nvSpPr>
          <p:cNvPr id="20" name="Text 18"/>
          <p:cNvSpPr/>
          <p:nvPr/>
        </p:nvSpPr>
        <p:spPr>
          <a:xfrm>
            <a:off x="792123" y="4316135"/>
            <a:ext cx="176451" cy="220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3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180505" y="3983236"/>
            <a:ext cx="1621274" cy="183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RISK-BASED PRICING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180505" y="4203740"/>
            <a:ext cx="1268337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Implement dynamic interest rate strategy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80505" y="4383167"/>
            <a:ext cx="12683371" cy="307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100"/>
              </a:lnSpc>
              <a:buSzPct val="100000"/>
              <a:buChar char="•"/>
            </a:pPr>
            <a:r>
              <a:rPr lang="en-US" sz="9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Higher rates for high-risk segments</a:t>
            </a:r>
            <a:endParaRPr lang="en-US" sz="900" dirty="0"/>
          </a:p>
          <a:p>
            <a:pPr algn="l" marL="342900" indent="-342900">
              <a:lnSpc>
                <a:spcPts val="1100"/>
              </a:lnSpc>
              <a:buSzPct val="100000"/>
              <a:buChar char="•"/>
            </a:pPr>
            <a:r>
              <a:rPr lang="en-US" sz="9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Compensate for elevated default probability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80505" y="4726781"/>
            <a:ext cx="1268337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00A0A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Linked to insight: Interest rate band concentration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33651" y="5063490"/>
            <a:ext cx="13363099" cy="987981"/>
          </a:xfrm>
          <a:prstGeom prst="roundRect">
            <a:avLst>
              <a:gd name="adj" fmla="val 5003"/>
            </a:avLst>
          </a:prstGeom>
          <a:solidFill>
            <a:srgbClr val="080E26"/>
          </a:solidFill>
          <a:ln w="15240">
            <a:solidFill>
              <a:srgbClr val="414A7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8891" y="5078730"/>
            <a:ext cx="470654" cy="957501"/>
          </a:xfrm>
          <a:prstGeom prst="roundRect">
            <a:avLst>
              <a:gd name="adj" fmla="val 6617"/>
            </a:avLst>
          </a:prstGeom>
          <a:solidFill>
            <a:srgbClr val="283157"/>
          </a:solidFill>
          <a:ln/>
        </p:spPr>
      </p:sp>
      <p:sp>
        <p:nvSpPr>
          <p:cNvPr id="27" name="Text 25"/>
          <p:cNvSpPr/>
          <p:nvPr/>
        </p:nvSpPr>
        <p:spPr>
          <a:xfrm>
            <a:off x="792123" y="5447109"/>
            <a:ext cx="176451" cy="220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4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180505" y="5196364"/>
            <a:ext cx="2208133" cy="183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LOAN AMOUNT MONITORING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180505" y="5416867"/>
            <a:ext cx="1268337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Enhanced scrutiny for large exposures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80505" y="5596295"/>
            <a:ext cx="1268337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100"/>
              </a:lnSpc>
              <a:buSzPct val="100000"/>
              <a:buChar char="•"/>
            </a:pPr>
            <a:r>
              <a:rPr lang="en-US" sz="9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Loans &gt; 800K require additional review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80505" y="5775722"/>
            <a:ext cx="1268337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00A0A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Linked to insight: High loan amounts show elevated risk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33651" y="6112431"/>
            <a:ext cx="13363099" cy="1152168"/>
          </a:xfrm>
          <a:prstGeom prst="roundRect">
            <a:avLst>
              <a:gd name="adj" fmla="val 4290"/>
            </a:avLst>
          </a:prstGeom>
          <a:solidFill>
            <a:srgbClr val="080E26"/>
          </a:solidFill>
          <a:ln w="15240">
            <a:solidFill>
              <a:srgbClr val="414A7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8891" y="6127671"/>
            <a:ext cx="470654" cy="1121688"/>
          </a:xfrm>
          <a:prstGeom prst="roundRect">
            <a:avLst>
              <a:gd name="adj" fmla="val 6617"/>
            </a:avLst>
          </a:prstGeom>
          <a:solidFill>
            <a:srgbClr val="283157"/>
          </a:solidFill>
          <a:ln/>
        </p:spPr>
      </p:sp>
      <p:sp>
        <p:nvSpPr>
          <p:cNvPr id="34" name="Text 32"/>
          <p:cNvSpPr/>
          <p:nvPr/>
        </p:nvSpPr>
        <p:spPr>
          <a:xfrm>
            <a:off x="792123" y="6578203"/>
            <a:ext cx="176451" cy="220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5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1180505" y="6245304"/>
            <a:ext cx="2503527" cy="183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RISK-TIERED APPROVAL MATRIX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1180505" y="6465808"/>
            <a:ext cx="1268337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Deploy segment-based approval framework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80505" y="6645235"/>
            <a:ext cx="12683371" cy="307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100"/>
              </a:lnSpc>
              <a:buSzPct val="100000"/>
              <a:buChar char="•"/>
            </a:pPr>
            <a:r>
              <a:rPr lang="en-US" sz="9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Automate low-risk approvals</a:t>
            </a:r>
            <a:endParaRPr lang="en-US" sz="900" dirty="0"/>
          </a:p>
          <a:p>
            <a:pPr algn="l" marL="342900" indent="-342900">
              <a:lnSpc>
                <a:spcPts val="1100"/>
              </a:lnSpc>
              <a:buSzPct val="100000"/>
              <a:buChar char="•"/>
            </a:pPr>
            <a:r>
              <a:rPr lang="en-US" sz="9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Escalate high-risk combinations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80505" y="6988850"/>
            <a:ext cx="1268337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00A0A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Linked to insight: Interaction effects reveal hidden risks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33651" y="7333178"/>
            <a:ext cx="1336309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All recommendations directly tied to analytical findings.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86445"/>
            <a:ext cx="662773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Impact &amp; Business Value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135386"/>
            <a:ext cx="4196358" cy="5007650"/>
          </a:xfrm>
          <a:prstGeom prst="roundRect">
            <a:avLst>
              <a:gd name="adj" fmla="val 2270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8224" y="2369820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8C98C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15390" y="2556867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8224" y="327707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FINANCIAL IMPACT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8224" y="3767495"/>
            <a:ext cx="3727490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Reduce default rate by 3–5%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Lower portfolio credit losses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Protect capital allocation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Improve risk-adjusted returns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216962" y="2135386"/>
            <a:ext cx="4196358" cy="5007650"/>
          </a:xfrm>
          <a:prstGeom prst="roundRect">
            <a:avLst>
              <a:gd name="adj" fmla="val 2270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51396" y="2369820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8C98CA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8562" y="2556867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51396" y="3277076"/>
            <a:ext cx="334660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OPERATIONAL IMPACT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451396" y="3767495"/>
            <a:ext cx="3727490" cy="277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Faster approval decisions (reduce cycle time)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Reduced manual risk review burden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Improved portfolio stability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Consistent risk assessment across branches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9640133" y="2135386"/>
            <a:ext cx="4196358" cy="5007650"/>
          </a:xfrm>
          <a:prstGeom prst="roundRect">
            <a:avLst>
              <a:gd name="adj" fmla="val 2270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874568" y="2369820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8C98CA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61734" y="2556867"/>
            <a:ext cx="306110" cy="3061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74568" y="327707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STRATEGIC VALUE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9874568" y="3767495"/>
            <a:ext cx="3727490" cy="31411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Establish data-driven credit culture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Strengthen risk governance framework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Enable sustainable lending growth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Build competitive advantage through analytics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44748"/>
            <a:ext cx="863988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Limitations &amp; Scope Boundaries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893689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Professional acknowledgment of scope boundaries demonstrates analytical rigor.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63310" y="2571869"/>
            <a:ext cx="60960" cy="4843343"/>
          </a:xfrm>
          <a:prstGeom prst="rect">
            <a:avLst/>
          </a:prstGeom>
          <a:solidFill>
            <a:srgbClr val="008080"/>
          </a:solidFill>
          <a:ln/>
        </p:spPr>
      </p:sp>
      <p:sp>
        <p:nvSpPr>
          <p:cNvPr id="5" name="Text 3"/>
          <p:cNvSpPr/>
          <p:nvPr/>
        </p:nvSpPr>
        <p:spPr>
          <a:xfrm>
            <a:off x="1081564" y="2602349"/>
            <a:ext cx="492240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8080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ANALYTICAL SCOPE LIMITATIONS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81564" y="30474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Data Constraints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81564" y="3537823"/>
            <a:ext cx="6091833" cy="1610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Based on historical data only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No forward-looking macroeconomic variables included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No predictive ML modeling applied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1081564" y="52841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Analytical Gaps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81564" y="5774531"/>
            <a:ext cx="6091833" cy="1610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Interest-rate band concentration requires deeper causal study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Borrower behavior changes not captured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External economic shocks not modeled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7426404" y="2571869"/>
            <a:ext cx="60960" cy="4843343"/>
          </a:xfrm>
          <a:prstGeom prst="rect">
            <a:avLst/>
          </a:prstGeom>
          <a:solidFill>
            <a:srgbClr val="008080"/>
          </a:solidFill>
          <a:ln/>
        </p:spPr>
      </p:sp>
      <p:sp>
        <p:nvSpPr>
          <p:cNvPr id="11" name="Text 9"/>
          <p:cNvSpPr/>
          <p:nvPr/>
        </p:nvSpPr>
        <p:spPr>
          <a:xfrm>
            <a:off x="7744658" y="2602349"/>
            <a:ext cx="494371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8080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IMPLICATIONS FOR DEPLOYMENT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744658" y="3092768"/>
            <a:ext cx="6091952" cy="23360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Dashboard best used as decision support, not sole approval criterion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Regular model recalibration needed as portfolio evolves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Integration with macroeconomic monitoring recommended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18542"/>
            <a:ext cx="5219700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37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Next Steps &amp; Roadmap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793790" y="1566743"/>
            <a:ext cx="13042821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Professional roadmap emphasizing phased implementation and continuous improvement.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93790" y="2036326"/>
            <a:ext cx="6439495" cy="2798088"/>
          </a:xfrm>
          <a:prstGeom prst="roundRect">
            <a:avLst>
              <a:gd name="adj" fmla="val 2894"/>
            </a:avLst>
          </a:prstGeom>
          <a:solidFill>
            <a:srgbClr val="283157"/>
          </a:solidFill>
          <a:ln w="7620">
            <a:solidFill>
              <a:srgbClr val="0080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94172" y="2236708"/>
            <a:ext cx="578406" cy="578406"/>
          </a:xfrm>
          <a:prstGeom prst="roundRect">
            <a:avLst>
              <a:gd name="adj" fmla="val 15807384"/>
            </a:avLst>
          </a:prstGeom>
          <a:solidFill>
            <a:srgbClr val="00808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53239" y="2395776"/>
            <a:ext cx="260271" cy="26027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94172" y="2978944"/>
            <a:ext cx="3950018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PHASE 1: ADVANCED MODELING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994172" y="3378398"/>
            <a:ext cx="6038731" cy="12556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Build predictive default model (logistic regression, ensemble methods)</a:t>
            </a:r>
            <a:endParaRPr lang="en-US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Develop probability of default (PD) scoring</a:t>
            </a:r>
            <a:endParaRPr lang="en-US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Validate model performance on holdout dataset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397115" y="2036326"/>
            <a:ext cx="6439495" cy="2798088"/>
          </a:xfrm>
          <a:prstGeom prst="roundRect">
            <a:avLst>
              <a:gd name="adj" fmla="val 2894"/>
            </a:avLst>
          </a:prstGeom>
          <a:solidFill>
            <a:srgbClr val="283157"/>
          </a:solidFill>
          <a:ln w="7620">
            <a:solidFill>
              <a:srgbClr val="00808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597497" y="2236708"/>
            <a:ext cx="578406" cy="578406"/>
          </a:xfrm>
          <a:prstGeom prst="roundRect">
            <a:avLst>
              <a:gd name="adj" fmla="val 15807384"/>
            </a:avLst>
          </a:prstGeom>
          <a:solidFill>
            <a:srgbClr val="00808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56565" y="2395776"/>
            <a:ext cx="260271" cy="26027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97497" y="2978944"/>
            <a:ext cx="5134928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PHASE 2: ENHANCED DATA INTEGRATION</a:t>
            </a:r>
            <a:endParaRPr lang="en-US" sz="1850" dirty="0"/>
          </a:p>
        </p:txBody>
      </p:sp>
      <p:sp>
        <p:nvSpPr>
          <p:cNvPr id="13" name="Text 9"/>
          <p:cNvSpPr/>
          <p:nvPr/>
        </p:nvSpPr>
        <p:spPr>
          <a:xfrm>
            <a:off x="7597497" y="3378398"/>
            <a:ext cx="6038731" cy="12556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Add macroeconomic indicators (unemployment, interest rates, GDP)</a:t>
            </a:r>
            <a:endParaRPr lang="en-US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Incorporate borrower behavioral data</a:t>
            </a:r>
            <a:endParaRPr lang="en-US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Integrate external credit bureau data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793790" y="4998244"/>
            <a:ext cx="6439495" cy="2512814"/>
          </a:xfrm>
          <a:prstGeom prst="roundRect">
            <a:avLst>
              <a:gd name="adj" fmla="val 3223"/>
            </a:avLst>
          </a:prstGeom>
          <a:solidFill>
            <a:srgbClr val="283157"/>
          </a:solidFill>
          <a:ln w="7620">
            <a:solidFill>
              <a:srgbClr val="00808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94172" y="5198626"/>
            <a:ext cx="578406" cy="578406"/>
          </a:xfrm>
          <a:prstGeom prst="roundRect">
            <a:avLst>
              <a:gd name="adj" fmla="val 15807384"/>
            </a:avLst>
          </a:prstGeom>
          <a:solidFill>
            <a:srgbClr val="00808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3239" y="5357693"/>
            <a:ext cx="260271" cy="26027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94172" y="5940862"/>
            <a:ext cx="4756071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PHASE 3: OPERATIONAL DEPLOYMENT</a:t>
            </a:r>
            <a:endParaRPr lang="en-US" sz="1850" dirty="0"/>
          </a:p>
        </p:txBody>
      </p:sp>
      <p:sp>
        <p:nvSpPr>
          <p:cNvPr id="18" name="Text 13"/>
          <p:cNvSpPr/>
          <p:nvPr/>
        </p:nvSpPr>
        <p:spPr>
          <a:xfrm>
            <a:off x="994172" y="6340316"/>
            <a:ext cx="6038731" cy="970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Deploy real-time monitoring alerts</a:t>
            </a:r>
            <a:endParaRPr lang="en-US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Develop automated risk scoring system</a:t>
            </a:r>
            <a:endParaRPr lang="en-US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Integrate dashboard into credit approval workflow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7397115" y="4998244"/>
            <a:ext cx="6439495" cy="2512814"/>
          </a:xfrm>
          <a:prstGeom prst="roundRect">
            <a:avLst>
              <a:gd name="adj" fmla="val 3223"/>
            </a:avLst>
          </a:prstGeom>
          <a:solidFill>
            <a:srgbClr val="283157"/>
          </a:solidFill>
          <a:ln w="7620">
            <a:solidFill>
              <a:srgbClr val="00808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597497" y="5198626"/>
            <a:ext cx="578406" cy="578406"/>
          </a:xfrm>
          <a:prstGeom prst="roundRect">
            <a:avLst>
              <a:gd name="adj" fmla="val 15807384"/>
            </a:avLst>
          </a:prstGeom>
          <a:solidFill>
            <a:srgbClr val="00808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56565" y="5357693"/>
            <a:ext cx="260271" cy="26027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97497" y="5940862"/>
            <a:ext cx="4804172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PHASE 4: CONTINUOUS IMPROVEMENT</a:t>
            </a:r>
            <a:endParaRPr lang="en-US" sz="1850" dirty="0"/>
          </a:p>
        </p:txBody>
      </p:sp>
      <p:sp>
        <p:nvSpPr>
          <p:cNvPr id="23" name="Text 17"/>
          <p:cNvSpPr/>
          <p:nvPr/>
        </p:nvSpPr>
        <p:spPr>
          <a:xfrm>
            <a:off x="7597497" y="6340316"/>
            <a:ext cx="6038731" cy="970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Monitor model performance in production</a:t>
            </a:r>
            <a:endParaRPr lang="en-US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Recalibrate quarterly based on new defaults</a:t>
            </a:r>
            <a:endParaRPr lang="en-US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Expand to other loan products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2026-02-18T18:18:01Z</dcterms:created>
  <dcterms:modified xsi:type="dcterms:W3CDTF">2026-02-18T18:18:01Z</dcterms:modified>
</cp:coreProperties>
</file>